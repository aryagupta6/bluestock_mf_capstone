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Mutual Fund Portfolio Analytics</a:t>
            </a:r>
          </a:p>
          <a:p>
            <a:pPr>
              <a:spcAft>
                <a:spcPts val="2000"/>
              </a:spcAft>
              <a:defRPr sz="1800">
                <a:solidFill>
                  <a:srgbClr val="2EC4B6"/>
                </a:solidFill>
                <a:latin typeface="Calibri"/>
              </a:defRPr>
            </a:pPr>
            <a:r>
              <a:t>End-to-End Performance Scorecard, Advanced Risk Metrics &amp; Delivery</a:t>
            </a:r>
          </a:p>
          <a:p>
            <a:pPr>
              <a:defRPr sz="1200">
                <a:solidFill>
                  <a:srgbClr val="C8C8C8"/>
                </a:solidFill>
                <a:latin typeface="Calibri"/>
              </a:defRPr>
            </a:pPr>
            <a:r>
              <a:t>Prepared by: Data Analyst Team | Bluestock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1. Project Scope &amp; Key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Relational Database Layer: </a:t>
            </a:r>
            <a:r>
              <a:rPr sz="1400">
                <a:solidFill>
                  <a:srgbClr val="1A202C"/>
                </a:solidFill>
                <a:latin typeface="Calibri"/>
              </a:rPr>
              <a:t>Develop a robust, relational data storage layer in SQLite using a star schema design.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Automated ETL Pipeline: </a:t>
            </a:r>
            <a:r>
              <a:rPr sz="1400">
                <a:solidFill>
                  <a:srgbClr val="1A202C"/>
                </a:solidFill>
                <a:latin typeface="Calibri"/>
              </a:rPr>
              <a:t>Construct a programmatic ETL pipeline to clean, ingest, and integrate transaction logs, NAV history, and fund master files.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Performance Engineering: </a:t>
            </a:r>
            <a:r>
              <a:rPr sz="1400">
                <a:solidFill>
                  <a:srgbClr val="1A202C"/>
                </a:solidFill>
                <a:latin typeface="Calibri"/>
              </a:rPr>
              <a:t>Calculate industry-standard performance metrics including CAGR (1y/3y/5y), Sharpe/Sortino ratios, and OLS Alpha/Beta.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Advanced Risk Analytics: </a:t>
            </a:r>
            <a:r>
              <a:rPr sz="1400">
                <a:solidFill>
                  <a:srgbClr val="1A202C"/>
                </a:solidFill>
                <a:latin typeface="Calibri"/>
              </a:rPr>
              <a:t>Perform advanced analytics on Value at Risk (VaR), sector concentration (HHI), and investor behavioral cohorts.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Production Delivery: </a:t>
            </a:r>
            <a:r>
              <a:rPr sz="1400">
                <a:solidFill>
                  <a:srgbClr val="1A202C"/>
                </a:solidFill>
                <a:latin typeface="Calibri"/>
              </a:rPr>
              <a:t>Deliver interactive reporting interfaces (Power BI) and automated delivery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2. Relational Database &amp; Star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Design Philosophy: </a:t>
            </a:r>
            <a:r>
              <a:rPr sz="1400">
                <a:solidFill>
                  <a:srgbClr val="1A202C"/>
                </a:solidFill>
                <a:latin typeface="Calibri"/>
              </a:rPr>
              <a:t>Organized around a central Dimension-Fact structure to support efficient analytical queries.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Dimension Tables: </a:t>
            </a:r>
            <a:r>
              <a:rPr sz="1400">
                <a:solidFill>
                  <a:srgbClr val="1A202C"/>
                </a:solidFill>
                <a:latin typeface="Calibri"/>
              </a:rPr>
              <a:t>dim_fund (AMFI code PK, fund house, category, fees, risk profile).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Fact Tables: </a:t>
            </a:r>
            <a:r>
              <a:rPr sz="1400">
                <a:solidFill>
                  <a:srgbClr val="1A202C"/>
                </a:solidFill>
                <a:latin typeface="Calibri"/>
              </a:rPr>
              <a:t>fact_nav (historical NAVs, computed daily returns), fact_transactions (investor logs), and fact_performance.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Indexing Strategy: </a:t>
            </a:r>
            <a:r>
              <a:rPr sz="1400">
                <a:solidFill>
                  <a:srgbClr val="1A202C"/>
                </a:solidFill>
                <a:latin typeface="Calibri"/>
              </a:rPr>
              <a:t>Applied indexes on nav_date, amfi_code, and transaction_date to speed up time-series lookups.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F8FAFC"/>
          </a:solidFill>
          <a:ln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0A2540"/>
                </a:solidFill>
                <a:latin typeface="Georgia"/>
              </a:defRPr>
            </a:pPr>
            <a:r>
              <a:t>SQLite Data Model Schema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Calibri"/>
              </a:defRPr>
            </a:pPr>
            <a:r>
              <a:t>- dim_fund (Fund Master)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Calibri"/>
              </a:defRPr>
            </a:pPr>
            <a:r>
              <a:t>- fact_nav (NAV history &amp; returns)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Calibri"/>
              </a:defRPr>
            </a:pPr>
            <a:r>
              <a:t>- fact_transactions (Investor ledger)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Calibri"/>
              </a:defRPr>
            </a:pPr>
            <a:r>
              <a:t>- fact_performance (Scorecard metrics)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Calibri"/>
              </a:defRPr>
            </a:pPr>
            <a:r>
              <a:t>- fact_portfolio_holdings (Stock allocations)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Calibri"/>
              </a:defRPr>
            </a:pPr>
            <a:r>
              <a:t>- fact_benchmark (Index closing history)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Calibri"/>
              </a:defRPr>
            </a:pPr>
            <a:r>
              <a:t>- fact_aum &amp; fact_sip_inflows (Industry metrics)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3. Data Cleaning, Imputation &amp;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Missing Value Imputation: </a:t>
            </a:r>
            <a:r>
              <a:rPr sz="1400">
                <a:solidFill>
                  <a:srgbClr val="1A202C"/>
                </a:solidFill>
                <a:latin typeface="Calibri"/>
              </a:rPr>
              <a:t>Imputed missing daily NAV data using forward-fill (FFill) grouped by AMFI code to preserve market time series without look-ahead bias.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Ledger Validation: </a:t>
            </a:r>
            <a:r>
              <a:rPr sz="1400">
                <a:solidFill>
                  <a:srgbClr val="1A202C"/>
                </a:solidFill>
                <a:latin typeface="Calibri"/>
              </a:rPr>
              <a:t>Audited and removed invalid negative transaction amounts in the investor ledger to secure mathematical integrity.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Categorical Standardisation: </a:t>
            </a:r>
            <a:r>
              <a:rPr sz="1400">
                <a:solidFill>
                  <a:srgbClr val="1A202C"/>
                </a:solidFill>
                <a:latin typeface="Calibri"/>
              </a:rPr>
              <a:t>Standardized schema names, transaction types (SIP, Lumpsum, Redemption), and KYC status columns.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Quality Checks: </a:t>
            </a:r>
            <a:r>
              <a:rPr sz="1400">
                <a:solidFill>
                  <a:srgbClr val="1A202C"/>
                </a:solidFill>
                <a:latin typeface="Calibri"/>
              </a:rPr>
              <a:t>Cross-referenced daily fund returns against benchmark index returns to detect anomalous movements.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4. Exploratory Data Analysis (EDA)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AUM Concentration: </a:t>
            </a:r>
            <a:r>
              <a:rPr sz="1400">
                <a:solidFill>
                  <a:srgbClr val="1A202C"/>
                </a:solidFill>
                <a:latin typeface="Calibri"/>
              </a:rPr>
              <a:t>AUM distribution shows high concentration in top 10 AMC houses (such as HDFC, SBI, ICICI), leaving a long tail of smaller funds.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Plan Cost Spread: </a:t>
            </a:r>
            <a:r>
              <a:rPr sz="1400">
                <a:solidFill>
                  <a:srgbClr val="1A202C"/>
                </a:solidFill>
                <a:latin typeface="Calibri"/>
              </a:rPr>
              <a:t>Regular plans charge significantly higher expense ratios than direct plans (averaging 0.8% - 1.2% higher per year).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Asset Class Performance: </a:t>
            </a:r>
            <a:r>
              <a:rPr sz="1400">
                <a:solidFill>
                  <a:srgbClr val="1A202C"/>
                </a:solidFill>
                <a:latin typeface="Calibri"/>
              </a:rPr>
              <a:t>Equity funds outperform debt funds on absolute returns but experience substantially higher annualized standard deviation.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SIP Growth Trend: </a:t>
            </a:r>
            <a:r>
              <a:rPr sz="1400">
                <a:solidFill>
                  <a:srgbClr val="1A202C"/>
                </a:solidFill>
                <a:latin typeface="Calibri"/>
              </a:rPr>
              <a:t>Monthly SIP inflows grew steadily across the 2022-2025 period, indicating resilient retail investor participation.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5. The Weighted Fund Scorecard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Objective: </a:t>
            </a:r>
            <a:r>
              <a:rPr sz="1400">
                <a:solidFill>
                  <a:srgbClr val="1A202C"/>
                </a:solidFill>
                <a:latin typeface="Calibri"/>
              </a:rPr>
              <a:t>Ensures a balanced, multi-dimensional view of performance rather than looking solely at raw historical returns.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Return &amp; Risk-Adjusted: </a:t>
            </a:r>
            <a:r>
              <a:rPr sz="1400">
                <a:solidFill>
                  <a:srgbClr val="1A202C"/>
                </a:solidFill>
                <a:latin typeface="Calibri"/>
              </a:rPr>
              <a:t>CAGR 3-Year (30% weight) and Sharpe Ratio (25% weight).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Manager Alpha &amp; Tail Risk: </a:t>
            </a:r>
            <a:r>
              <a:rPr sz="1400">
                <a:solidFill>
                  <a:srgbClr val="1A202C"/>
                </a:solidFill>
                <a:latin typeface="Calibri"/>
              </a:rPr>
              <a:t>OLS Benchmark Alpha (20% weight) and Maximum Drawdown (10% weight, inverse).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Cost Efficiency: </a:t>
            </a:r>
            <a:r>
              <a:rPr sz="1400">
                <a:solidFill>
                  <a:srgbClr val="1A202C"/>
                </a:solidFill>
                <a:latin typeface="Calibri"/>
              </a:rPr>
              <a:t>Expense Ratio (15% weight, inverse) to penalize high management fees.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Normalisation Method: </a:t>
            </a:r>
            <a:r>
              <a:rPr sz="1400">
                <a:solidFill>
                  <a:srgbClr val="1A202C"/>
                </a:solidFill>
                <a:latin typeface="Calibri"/>
              </a:rPr>
              <a:t>Scores are computed using percentile ranks (0 to 100 scale) within categories to ensure fair comparisons.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6. Top &amp; Bottom Performers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Equity Top: </a:t>
            </a:r>
            <a:r>
              <a:rPr sz="1400">
                <a:solidFill>
                  <a:srgbClr val="1A202C"/>
                </a:solidFill>
                <a:latin typeface="Calibri"/>
              </a:rPr>
              <a:t>HDFC Mid-Cap Opportunities Fund (Score: 81.1)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Equity Second: </a:t>
            </a:r>
            <a:r>
              <a:rPr sz="1400">
                <a:solidFill>
                  <a:srgbClr val="1A202C"/>
                </a:solidFill>
                <a:latin typeface="Calibri"/>
              </a:rPr>
              <a:t>ABSL Frontline Equity Fund (Score: 69.4)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Equity Third: </a:t>
            </a:r>
            <a:r>
              <a:rPr sz="1400">
                <a:solidFill>
                  <a:srgbClr val="1A202C"/>
                </a:solidFill>
                <a:latin typeface="Calibri"/>
              </a:rPr>
              <a:t>UTI Flexi Cap Fund (Score: 50.1)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Equity Bottom: </a:t>
            </a:r>
            <a:r>
              <a:rPr sz="1400">
                <a:solidFill>
                  <a:srgbClr val="1A202C"/>
                </a:solidFill>
                <a:latin typeface="Calibri"/>
              </a:rPr>
              <a:t>Axis Bluechip Fund - Regular (Score: 38.2)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Debt Top: </a:t>
            </a:r>
            <a:r>
              <a:rPr sz="1400">
                <a:solidFill>
                  <a:srgbClr val="1A202C"/>
                </a:solidFill>
                <a:latin typeface="Calibri"/>
              </a:rPr>
              <a:t>Kotak Liquid Fund - Regular (Score: 39.5)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Debt Second: </a:t>
            </a:r>
            <a:r>
              <a:rPr sz="1400">
                <a:solidFill>
                  <a:srgbClr val="1A202C"/>
                </a:solidFill>
                <a:latin typeface="Calibri"/>
              </a:rPr>
              <a:t>SBI Magnum Gilt Fund - Regular (Score: 36.9)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Debt Third: </a:t>
            </a:r>
            <a:r>
              <a:rPr sz="1400">
                <a:solidFill>
                  <a:srgbClr val="1A202C"/>
                </a:solidFill>
                <a:latin typeface="Calibri"/>
              </a:rPr>
              <a:t>Nippon India Gilt Securities Fund (Score: 35.9)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Debt Bottom: </a:t>
            </a:r>
            <a:r>
              <a:rPr sz="1400">
                <a:solidFill>
                  <a:srgbClr val="1A202C"/>
                </a:solidFill>
                <a:latin typeface="Calibri"/>
              </a:rPr>
              <a:t>ABSL Short Term Debt Fund (Score: 28.5)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7. Tail Risk: Value at Risk (VaR) &amp; CVaR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Value at Risk (95%): </a:t>
            </a:r>
            <a:r>
              <a:rPr sz="1400">
                <a:solidFill>
                  <a:srgbClr val="1A202C"/>
                </a:solidFill>
                <a:latin typeface="Calibri"/>
              </a:rPr>
              <a:t>Historical VaR (95%) represents the daily loss threshold that will only be breached 5% of the time.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Conditional VaR (95%): </a:t>
            </a:r>
            <a:r>
              <a:rPr sz="1400">
                <a:solidFill>
                  <a:srgbClr val="1A202C"/>
                </a:solidFill>
                <a:latin typeface="Calibri"/>
              </a:rPr>
              <a:t>Conditional VaR (CVaR) represents the average loss expected on those worst 5% of days.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Equity Risk Profile: </a:t>
            </a:r>
            <a:r>
              <a:rPr sz="1400">
                <a:solidFill>
                  <a:srgbClr val="1A202C"/>
                </a:solidFill>
                <a:latin typeface="Calibri"/>
              </a:rPr>
              <a:t>Mid cap and Small cap funds show a daily VaR 95% of -1.8% to -2.3%, indicating high short-term drawdown risk.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Debt Risk Profile: </a:t>
            </a:r>
            <a:r>
              <a:rPr sz="1400">
                <a:solidFill>
                  <a:srgbClr val="1A202C"/>
                </a:solidFill>
                <a:latin typeface="Calibri"/>
              </a:rPr>
              <a:t>Liquid and Short Term Debt funds present a VaR of -0.01% to -0.15%, making them ideal for capital preservation.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8. Rolling 90-Day Sharpe Ratio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Rolling Sharpe (90 Days): </a:t>
            </a:r>
            <a:r>
              <a:rPr sz="1400">
                <a:solidFill>
                  <a:srgbClr val="1A202C"/>
                </a:solidFill>
                <a:latin typeface="Calibri"/>
              </a:rPr>
              <a:t>Evaluates how risk-adjusted returns evolve over market cycles, highlighting return consistency.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Liquid Fund Stability: </a:t>
            </a:r>
            <a:r>
              <a:rPr sz="1400">
                <a:solidFill>
                  <a:srgbClr val="1A202C"/>
                </a:solidFill>
                <a:latin typeface="Calibri"/>
              </a:rPr>
              <a:t>Liquid and Short Term Debt funds show very high and stable rolling Sharpe ratios due to extremely low volatility.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Equity Volatility: </a:t>
            </a:r>
            <a:r>
              <a:rPr sz="1400">
                <a:solidFill>
                  <a:srgbClr val="1A202C"/>
                </a:solidFill>
                <a:latin typeface="Calibri"/>
              </a:rPr>
              <a:t>Equity fund Sharpe ratios fluctuate wildly, ranging from negative during market corrections to over 2.5 during rallies.</a:t>
            </a:r>
          </a:p>
        </p:txBody>
      </p:sp>
      <p:pic>
        <p:nvPicPr>
          <p:cNvPr id="4" name="Picture 3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023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9. Investor Cohort &amp; Behavioral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Acquisition Cohorts: </a:t>
            </a:r>
            <a:r>
              <a:rPr sz="1400">
                <a:solidFill>
                  <a:srgbClr val="1A202C"/>
                </a:solidFill>
                <a:latin typeface="Calibri"/>
              </a:rPr>
              <a:t>2024 cohort (1362 investors) vs. 2025 cohort (12 investors) shows transaction volume concentration in 2024.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SIPSizing: </a:t>
            </a:r>
            <a:r>
              <a:rPr sz="1400">
                <a:solidFill>
                  <a:srgbClr val="1A202C"/>
                </a:solidFill>
                <a:latin typeface="Calibri"/>
              </a:rPr>
              <a:t>Average SIP size remains highly stable across cohorts (around Rs. 4,500 - 5,000 per month).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SIP Continuity: </a:t>
            </a:r>
            <a:r>
              <a:rPr sz="1400">
                <a:solidFill>
                  <a:srgbClr val="1A202C"/>
                </a:solidFill>
                <a:latin typeface="Calibri"/>
              </a:rPr>
              <a:t>Out of 1362 active SIP clients, 1332 (97.8%) were flagged as 'at-risk' due to transaction gaps exceeding 35 days.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Retention Insight: </a:t>
            </a:r>
            <a:r>
              <a:rPr sz="1400">
                <a:solidFill>
                  <a:srgbClr val="1A202C"/>
                </a:solidFill>
                <a:latin typeface="Calibri"/>
              </a:rPr>
              <a:t>High attrition highlight the need for automated reminders and mandate tracking to prevent SIP defaults.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10. Sector HHI &amp; Recommender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Sector HHI: </a:t>
            </a:r>
            <a:r>
              <a:rPr sz="1400">
                <a:solidFill>
                  <a:srgbClr val="1A202C"/>
                </a:solidFill>
                <a:latin typeface="Calibri"/>
              </a:rPr>
              <a:t>Assesses sector concentration. HHI &gt; 2500 represents highly concentrated thematic portfolios.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CLI Recommender: </a:t>
            </a:r>
            <a:r>
              <a:rPr sz="1400">
                <a:solidFill>
                  <a:srgbClr val="1A202C"/>
                </a:solidFill>
                <a:latin typeface="Calibri"/>
              </a:rPr>
              <a:t>The fund recommendation engine is built as an interactive command-line interface.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Recommender Rules: </a:t>
            </a:r>
            <a:r>
              <a:rPr sz="1400">
                <a:solidFill>
                  <a:srgbClr val="1A202C"/>
                </a:solidFill>
                <a:latin typeface="Calibri"/>
              </a:rPr>
              <a:t>Maps risk profile (Low, Moderate, High) and Asset Class (Equity, Debt) to select top 3 funds sorted by Sharpe ratio.</a:t>
            </a:r>
          </a:p>
        </p:txBody>
      </p:sp>
      <p:pic>
        <p:nvPicPr>
          <p:cNvPr id="4" name="Picture 3" descr="sector_hh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023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540"/>
                </a:solidFill>
                <a:latin typeface="Georgia"/>
              </a:defRPr>
            </a:pPr>
            <a:r>
              <a:t>11. Summary &amp; Actionable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For Operations: </a:t>
            </a:r>
            <a:r>
              <a:rPr sz="1400">
                <a:solidFill>
                  <a:srgbClr val="1A202C"/>
                </a:solidFill>
                <a:latin typeface="Calibri"/>
              </a:rPr>
              <a:t>Implement automated payment mandate checks to address the 97.8% default risk flagged in the SIP continuity analysis.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For Advisory: </a:t>
            </a:r>
            <a:r>
              <a:rPr sz="1400">
                <a:solidFill>
                  <a:srgbClr val="1A202C"/>
                </a:solidFill>
                <a:latin typeface="Calibri"/>
              </a:rPr>
              <a:t>Promote Direct Plans to yield-sensitive clients; regular plans impose an unnecessary drag on long-term compound growth.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For Performance: </a:t>
            </a:r>
            <a:r>
              <a:rPr sz="1400">
                <a:solidFill>
                  <a:srgbClr val="1A202C"/>
                </a:solidFill>
                <a:latin typeface="Calibri"/>
              </a:rPr>
              <a:t>Use the weighted fund scorecard instead of raw returns to benchmark fund managers and detect performance decay early.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Calibri"/>
              </a:rPr>
              <a:t>For Tech: </a:t>
            </a:r>
            <a:r>
              <a:rPr sz="1400">
                <a:solidFill>
                  <a:srgbClr val="1A202C"/>
                </a:solidFill>
                <a:latin typeface="Calibri"/>
              </a:rPr>
              <a:t>Deploy the recommender engine as a microservice to assist advisory teams in offering objective, risk-aligned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